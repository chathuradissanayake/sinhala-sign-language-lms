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Atkinson Hyperlegible" panose="020B0604020202020204" charset="0"/>
      <p:regular r:id="rId14"/>
    </p:embeddedFont>
    <p:embeddedFont>
      <p:font typeface="Atkinson Hyperlegible Bold" panose="020B0604020202020204" charset="0"/>
      <p:regular r:id="rId15"/>
    </p:embeddedFont>
    <p:embeddedFont>
      <p:font typeface="Neue Machina Ultra-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33" d="100"/>
          <a:sy n="33" d="100"/>
        </p:scale>
        <p:origin x="704" y="88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2941694" y="3262696"/>
            <a:ext cx="5374881" cy="7052879"/>
          </a:xfrm>
          <a:custGeom>
            <a:avLst/>
            <a:gdLst/>
            <a:ahLst/>
            <a:cxnLst/>
            <a:rect l="l" t="t" r="r" b="b"/>
            <a:pathLst>
              <a:path w="5374881" h="7052879">
                <a:moveTo>
                  <a:pt x="5374881" y="0"/>
                </a:moveTo>
                <a:lnTo>
                  <a:pt x="0" y="0"/>
                </a:lnTo>
                <a:lnTo>
                  <a:pt x="0" y="7052879"/>
                </a:lnTo>
                <a:lnTo>
                  <a:pt x="5374881" y="7052879"/>
                </a:lnTo>
                <a:lnTo>
                  <a:pt x="537488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flipV="1">
            <a:off x="0" y="0"/>
            <a:ext cx="5374881" cy="7052879"/>
          </a:xfrm>
          <a:custGeom>
            <a:avLst/>
            <a:gdLst/>
            <a:ahLst/>
            <a:cxnLst/>
            <a:rect l="l" t="t" r="r" b="b"/>
            <a:pathLst>
              <a:path w="5374881" h="7052879">
                <a:moveTo>
                  <a:pt x="0" y="7052879"/>
                </a:moveTo>
                <a:lnTo>
                  <a:pt x="5374881" y="7052879"/>
                </a:lnTo>
                <a:lnTo>
                  <a:pt x="5374881" y="0"/>
                </a:lnTo>
                <a:lnTo>
                  <a:pt x="0" y="0"/>
                </a:lnTo>
                <a:lnTo>
                  <a:pt x="0" y="705287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16608265" y="1028700"/>
            <a:ext cx="651035" cy="651035"/>
          </a:xfrm>
          <a:custGeom>
            <a:avLst/>
            <a:gdLst/>
            <a:ahLst/>
            <a:cxnLst/>
            <a:rect l="l" t="t" r="r" b="b"/>
            <a:pathLst>
              <a:path w="651035" h="651035">
                <a:moveTo>
                  <a:pt x="0" y="0"/>
                </a:moveTo>
                <a:lnTo>
                  <a:pt x="651035" y="0"/>
                </a:lnTo>
                <a:lnTo>
                  <a:pt x="651035" y="651035"/>
                </a:lnTo>
                <a:lnTo>
                  <a:pt x="0" y="6510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TextBox 5"/>
          <p:cNvSpPr txBox="1"/>
          <p:nvPr/>
        </p:nvSpPr>
        <p:spPr>
          <a:xfrm>
            <a:off x="7922742" y="6200174"/>
            <a:ext cx="3810070" cy="33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1"/>
              </a:lnSpc>
            </a:pPr>
            <a:r>
              <a:rPr lang="en-US" sz="2029">
                <a:solidFill>
                  <a:srgbClr val="055C9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Conference Paper By 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343630" y="6633463"/>
            <a:ext cx="6018803" cy="646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6"/>
              </a:lnSpc>
            </a:pPr>
            <a:r>
              <a:rPr lang="en-US" sz="1911" b="1">
                <a:solidFill>
                  <a:srgbClr val="055C9D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Joseph Redmon, Santosh Divvala, Ross Girshick, Ali Farhadi (CVPR 2016)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362433" y="981075"/>
            <a:ext cx="4057236" cy="420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15"/>
              </a:lnSpc>
            </a:pPr>
            <a:r>
              <a:rPr lang="en-US" sz="2510" b="1">
                <a:solidFill>
                  <a:srgbClr val="055C9D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Faculty of Engineering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195388" y="1259092"/>
            <a:ext cx="3224281" cy="420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15"/>
              </a:lnSpc>
            </a:pPr>
            <a:r>
              <a:rPr lang="en-US" sz="2510">
                <a:solidFill>
                  <a:srgbClr val="00306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University of Ruhuna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711795" y="2709179"/>
            <a:ext cx="8864410" cy="1717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 b="1">
                <a:solidFill>
                  <a:srgbClr val="055C9D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YOLO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711795" y="4522105"/>
            <a:ext cx="8864410" cy="1509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51"/>
              </a:lnSpc>
            </a:pPr>
            <a:r>
              <a:rPr lang="en-US" sz="4322" b="1">
                <a:solidFill>
                  <a:srgbClr val="00306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UNIFIED, REAL-TIME OBJECT DETECTION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3620707" y="3858949"/>
            <a:ext cx="5374881" cy="7052879"/>
          </a:xfrm>
          <a:custGeom>
            <a:avLst/>
            <a:gdLst/>
            <a:ahLst/>
            <a:cxnLst/>
            <a:rect l="l" t="t" r="r" b="b"/>
            <a:pathLst>
              <a:path w="5374881" h="7052879">
                <a:moveTo>
                  <a:pt x="5374881" y="0"/>
                </a:moveTo>
                <a:lnTo>
                  <a:pt x="0" y="0"/>
                </a:lnTo>
                <a:lnTo>
                  <a:pt x="0" y="7052879"/>
                </a:lnTo>
                <a:lnTo>
                  <a:pt x="5374881" y="7052879"/>
                </a:lnTo>
                <a:lnTo>
                  <a:pt x="537488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10486566" y="6905274"/>
            <a:ext cx="5374881" cy="7052879"/>
          </a:xfrm>
          <a:custGeom>
            <a:avLst/>
            <a:gdLst/>
            <a:ahLst/>
            <a:cxnLst/>
            <a:rect l="l" t="t" r="r" b="b"/>
            <a:pathLst>
              <a:path w="5374881" h="7052879">
                <a:moveTo>
                  <a:pt x="0" y="0"/>
                </a:moveTo>
                <a:lnTo>
                  <a:pt x="5374881" y="0"/>
                </a:lnTo>
                <a:lnTo>
                  <a:pt x="5374881" y="7052879"/>
                </a:lnTo>
                <a:lnTo>
                  <a:pt x="0" y="70528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4" name="Group 4"/>
          <p:cNvGrpSpPr/>
          <p:nvPr/>
        </p:nvGrpSpPr>
        <p:grpSpPr>
          <a:xfrm>
            <a:off x="10695451" y="3900901"/>
            <a:ext cx="4569342" cy="5357399"/>
            <a:chOff x="0" y="0"/>
            <a:chExt cx="6092456" cy="7143199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5267904" cy="6995160"/>
              <a:chOff x="0" y="0"/>
              <a:chExt cx="459077" cy="6096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459077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59077" h="609600">
                    <a:moveTo>
                      <a:pt x="203200" y="0"/>
                    </a:moveTo>
                    <a:lnTo>
                      <a:pt x="459077" y="0"/>
                    </a:lnTo>
                    <a:lnTo>
                      <a:pt x="255877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E86D4"/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01600" y="-38100"/>
                <a:ext cx="255877" cy="647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95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172314" y="148039"/>
              <a:ext cx="5920142" cy="6995160"/>
              <a:chOff x="0" y="0"/>
              <a:chExt cx="515916" cy="6096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515916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515916" h="609600">
                    <a:moveTo>
                      <a:pt x="203200" y="0"/>
                    </a:moveTo>
                    <a:lnTo>
                      <a:pt x="515916" y="0"/>
                    </a:lnTo>
                    <a:lnTo>
                      <a:pt x="31271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51911" r="-51911"/>
                </a:stretch>
              </a:blipFill>
            </p:spPr>
          </p:sp>
        </p:grpSp>
      </p:grpSp>
      <p:grpSp>
        <p:nvGrpSpPr>
          <p:cNvPr id="10" name="Group 10"/>
          <p:cNvGrpSpPr/>
          <p:nvPr/>
        </p:nvGrpSpPr>
        <p:grpSpPr>
          <a:xfrm>
            <a:off x="13432636" y="2470448"/>
            <a:ext cx="4569342" cy="5357399"/>
            <a:chOff x="0" y="0"/>
            <a:chExt cx="6092456" cy="7143199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5267904" cy="6995160"/>
              <a:chOff x="0" y="0"/>
              <a:chExt cx="459077" cy="6096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459077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59077" h="609600">
                    <a:moveTo>
                      <a:pt x="203200" y="0"/>
                    </a:moveTo>
                    <a:lnTo>
                      <a:pt x="459077" y="0"/>
                    </a:lnTo>
                    <a:lnTo>
                      <a:pt x="255877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E86D4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01600" y="-38100"/>
                <a:ext cx="255877" cy="647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95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172314" y="148039"/>
              <a:ext cx="5920142" cy="6995160"/>
              <a:chOff x="0" y="0"/>
              <a:chExt cx="515916" cy="6096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515916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515916" h="609600">
                    <a:moveTo>
                      <a:pt x="203200" y="0"/>
                    </a:moveTo>
                    <a:lnTo>
                      <a:pt x="515916" y="0"/>
                    </a:lnTo>
                    <a:lnTo>
                      <a:pt x="31271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38508" r="-38508"/>
                </a:stretch>
              </a:blipFill>
            </p:spPr>
          </p:sp>
        </p:grpSp>
      </p:grpSp>
      <p:sp>
        <p:nvSpPr>
          <p:cNvPr id="16" name="Freeform 16"/>
          <p:cNvSpPr/>
          <p:nvPr/>
        </p:nvSpPr>
        <p:spPr>
          <a:xfrm rot="5400000" flipH="1" flipV="1">
            <a:off x="15940575" y="42330"/>
            <a:ext cx="1075032" cy="3047772"/>
          </a:xfrm>
          <a:custGeom>
            <a:avLst/>
            <a:gdLst/>
            <a:ahLst/>
            <a:cxnLst/>
            <a:rect l="l" t="t" r="r" b="b"/>
            <a:pathLst>
              <a:path w="1075032" h="3047772">
                <a:moveTo>
                  <a:pt x="1075033" y="3047772"/>
                </a:moveTo>
                <a:lnTo>
                  <a:pt x="0" y="3047772"/>
                </a:lnTo>
                <a:lnTo>
                  <a:pt x="0" y="0"/>
                </a:lnTo>
                <a:lnTo>
                  <a:pt x="1075033" y="0"/>
                </a:lnTo>
                <a:lnTo>
                  <a:pt x="1075033" y="304777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028700" y="1363013"/>
            <a:ext cx="14236093" cy="622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sz="5000" b="1">
                <a:solidFill>
                  <a:srgbClr val="055C9D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THE CHALLENGE OF OBJECT DETECTION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2625724"/>
            <a:ext cx="9457866" cy="6546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5" lvl="1" indent="-269872" algn="just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306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Object detection identifies what and where things are in an image.</a:t>
            </a:r>
          </a:p>
          <a:p>
            <a:pPr algn="just">
              <a:lnSpc>
                <a:spcPts val="3499"/>
              </a:lnSpc>
            </a:pPr>
            <a:endParaRPr lang="en-US" sz="2499">
              <a:solidFill>
                <a:srgbClr val="003060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539745" lvl="1" indent="-269872" algn="just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306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Traditional methods (e.g., R-CNN, DPM) use multiple stages – region proposals, classification, and bounding box refinement.</a:t>
            </a:r>
          </a:p>
          <a:p>
            <a:pPr algn="just">
              <a:lnSpc>
                <a:spcPts val="3499"/>
              </a:lnSpc>
            </a:pPr>
            <a:endParaRPr lang="en-US" sz="2499">
              <a:solidFill>
                <a:srgbClr val="003060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539745" lvl="1" indent="-269872" algn="just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306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These pipelines are slow and complex, limiting real-time performance.</a:t>
            </a:r>
          </a:p>
          <a:p>
            <a:pPr algn="just">
              <a:lnSpc>
                <a:spcPts val="3499"/>
              </a:lnSpc>
            </a:pPr>
            <a:endParaRPr lang="en-US" sz="2499">
              <a:solidFill>
                <a:srgbClr val="003060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539745" lvl="1" indent="-269872" algn="just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306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Goal: Develop a fast, unified model that detects objects in real-time using a single neural network.</a:t>
            </a:r>
          </a:p>
          <a:p>
            <a:pPr algn="just">
              <a:lnSpc>
                <a:spcPts val="3499"/>
              </a:lnSpc>
            </a:pPr>
            <a:endParaRPr lang="en-US" sz="2499">
              <a:solidFill>
                <a:srgbClr val="003060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algn="just">
              <a:lnSpc>
                <a:spcPts val="3499"/>
              </a:lnSpc>
            </a:pPr>
            <a:endParaRPr lang="en-US" sz="2499">
              <a:solidFill>
                <a:srgbClr val="003060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306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Key Idea: “</a:t>
            </a:r>
            <a:r>
              <a:rPr lang="en-US" sz="2499" b="1">
                <a:solidFill>
                  <a:srgbClr val="00306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You Only Look Once</a:t>
            </a:r>
            <a:r>
              <a:rPr lang="en-US" sz="2499">
                <a:solidFill>
                  <a:srgbClr val="00306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” – detect everything in one pass.</a:t>
            </a:r>
          </a:p>
          <a:p>
            <a:pPr algn="just">
              <a:lnSpc>
                <a:spcPts val="3499"/>
              </a:lnSpc>
            </a:pPr>
            <a:endParaRPr lang="en-US" sz="2499">
              <a:solidFill>
                <a:srgbClr val="003060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 flipV="1">
            <a:off x="3450604" y="4594930"/>
            <a:ext cx="4337831" cy="5692070"/>
          </a:xfrm>
          <a:custGeom>
            <a:avLst/>
            <a:gdLst/>
            <a:ahLst/>
            <a:cxnLst/>
            <a:rect l="l" t="t" r="r" b="b"/>
            <a:pathLst>
              <a:path w="4337831" h="5692070">
                <a:moveTo>
                  <a:pt x="0" y="5692070"/>
                </a:moveTo>
                <a:lnTo>
                  <a:pt x="4337832" y="5692070"/>
                </a:lnTo>
                <a:lnTo>
                  <a:pt x="4337832" y="0"/>
                </a:lnTo>
                <a:lnTo>
                  <a:pt x="0" y="0"/>
                </a:lnTo>
                <a:lnTo>
                  <a:pt x="0" y="569207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rot="-10800000" flipH="1" flipV="1">
            <a:off x="-1673842" y="2456612"/>
            <a:ext cx="5967408" cy="7830388"/>
          </a:xfrm>
          <a:custGeom>
            <a:avLst/>
            <a:gdLst/>
            <a:ahLst/>
            <a:cxnLst/>
            <a:rect l="l" t="t" r="r" b="b"/>
            <a:pathLst>
              <a:path w="5967408" h="7830388">
                <a:moveTo>
                  <a:pt x="5967408" y="7830388"/>
                </a:moveTo>
                <a:lnTo>
                  <a:pt x="0" y="7830388"/>
                </a:lnTo>
                <a:lnTo>
                  <a:pt x="0" y="0"/>
                </a:lnTo>
                <a:lnTo>
                  <a:pt x="5967408" y="0"/>
                </a:lnTo>
                <a:lnTo>
                  <a:pt x="5967408" y="783038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4" name="Group 4"/>
          <p:cNvGrpSpPr/>
          <p:nvPr/>
        </p:nvGrpSpPr>
        <p:grpSpPr>
          <a:xfrm>
            <a:off x="562879" y="3120289"/>
            <a:ext cx="5247249" cy="5949098"/>
            <a:chOff x="0" y="0"/>
            <a:chExt cx="6996333" cy="7932130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99789"/>
              <a:ext cx="6146565" cy="7152366"/>
              <a:chOff x="0" y="0"/>
              <a:chExt cx="698500" cy="8128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6985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98500" h="812800">
                    <a:moveTo>
                      <a:pt x="349250" y="0"/>
                    </a:moveTo>
                    <a:lnTo>
                      <a:pt x="698500" y="203200"/>
                    </a:lnTo>
                    <a:lnTo>
                      <a:pt x="698500" y="609600"/>
                    </a:lnTo>
                    <a:lnTo>
                      <a:pt x="349250" y="812800"/>
                    </a:lnTo>
                    <a:lnTo>
                      <a:pt x="0" y="609600"/>
                    </a:lnTo>
                    <a:lnTo>
                      <a:pt x="0" y="203200"/>
                    </a:lnTo>
                    <a:lnTo>
                      <a:pt x="349250" y="0"/>
                    </a:lnTo>
                    <a:close/>
                  </a:path>
                </a:pathLst>
              </a:custGeom>
              <a:solidFill>
                <a:srgbClr val="0E86D4"/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101600"/>
                <a:ext cx="698500" cy="571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96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179658" y="0"/>
              <a:ext cx="6816674" cy="7932130"/>
              <a:chOff x="0" y="0"/>
              <a:chExt cx="6985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6985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98500" h="812800">
                    <a:moveTo>
                      <a:pt x="349250" y="0"/>
                    </a:moveTo>
                    <a:lnTo>
                      <a:pt x="698500" y="203200"/>
                    </a:lnTo>
                    <a:lnTo>
                      <a:pt x="698500" y="609600"/>
                    </a:lnTo>
                    <a:lnTo>
                      <a:pt x="349250" y="812800"/>
                    </a:lnTo>
                    <a:lnTo>
                      <a:pt x="0" y="609600"/>
                    </a:lnTo>
                    <a:lnTo>
                      <a:pt x="0" y="203200"/>
                    </a:lnTo>
                    <a:lnTo>
                      <a:pt x="34925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37327" r="-37327"/>
                </a:stretch>
              </a:blipFill>
            </p:spPr>
          </p:sp>
        </p:grpSp>
      </p:grpSp>
      <p:sp>
        <p:nvSpPr>
          <p:cNvPr id="10" name="Freeform 10"/>
          <p:cNvSpPr/>
          <p:nvPr/>
        </p:nvSpPr>
        <p:spPr>
          <a:xfrm rot="-5400000" flipV="1">
            <a:off x="2015070" y="118530"/>
            <a:ext cx="1075032" cy="3047772"/>
          </a:xfrm>
          <a:custGeom>
            <a:avLst/>
            <a:gdLst/>
            <a:ahLst/>
            <a:cxnLst/>
            <a:rect l="l" t="t" r="r" b="b"/>
            <a:pathLst>
              <a:path w="1075032" h="3047772">
                <a:moveTo>
                  <a:pt x="0" y="3047772"/>
                </a:moveTo>
                <a:lnTo>
                  <a:pt x="1075032" y="3047772"/>
                </a:lnTo>
                <a:lnTo>
                  <a:pt x="1075032" y="0"/>
                </a:lnTo>
                <a:lnTo>
                  <a:pt x="0" y="0"/>
                </a:lnTo>
                <a:lnTo>
                  <a:pt x="0" y="304777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454821" y="1455091"/>
            <a:ext cx="12804479" cy="62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400"/>
              </a:lnSpc>
            </a:pPr>
            <a:r>
              <a:rPr lang="en-US" sz="5000" b="1">
                <a:solidFill>
                  <a:srgbClr val="055C9D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EVOLUTION OF OBJECT DETECTION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17258" y="2640059"/>
            <a:ext cx="8742042" cy="6920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3048" lvl="1" indent="-301524" algn="just">
              <a:lnSpc>
                <a:spcPts val="3910"/>
              </a:lnSpc>
              <a:buFont typeface="Arial"/>
              <a:buChar char="•"/>
            </a:pPr>
            <a:r>
              <a:rPr lang="en-US" sz="2793">
                <a:solidFill>
                  <a:srgbClr val="00306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DPM (Deformable Parts Model): Uses sliding windows; accurate but slow.</a:t>
            </a:r>
          </a:p>
          <a:p>
            <a:pPr algn="just">
              <a:lnSpc>
                <a:spcPts val="3910"/>
              </a:lnSpc>
            </a:pPr>
            <a:endParaRPr lang="en-US" sz="2793">
              <a:solidFill>
                <a:srgbClr val="003060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603048" lvl="1" indent="-301524" algn="just">
              <a:lnSpc>
                <a:spcPts val="3910"/>
              </a:lnSpc>
              <a:buFont typeface="Arial"/>
              <a:buChar char="•"/>
            </a:pPr>
            <a:r>
              <a:rPr lang="en-US" sz="2793">
                <a:solidFill>
                  <a:srgbClr val="00306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R-CNN → Region proposals + CNN + SVM (40 sec/image)</a:t>
            </a:r>
          </a:p>
          <a:p>
            <a:pPr algn="just">
              <a:lnSpc>
                <a:spcPts val="3910"/>
              </a:lnSpc>
            </a:pPr>
            <a:endParaRPr lang="en-US" sz="2793">
              <a:solidFill>
                <a:srgbClr val="003060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603048" lvl="1" indent="-301524" algn="just">
              <a:lnSpc>
                <a:spcPts val="3910"/>
              </a:lnSpc>
              <a:buFont typeface="Arial"/>
              <a:buChar char="•"/>
            </a:pPr>
            <a:r>
              <a:rPr lang="en-US" sz="2793">
                <a:solidFill>
                  <a:srgbClr val="00306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Fast R-CNN → Shared computation, but still needs region proposals.</a:t>
            </a:r>
          </a:p>
          <a:p>
            <a:pPr algn="just">
              <a:lnSpc>
                <a:spcPts val="3910"/>
              </a:lnSpc>
            </a:pPr>
            <a:endParaRPr lang="en-US" sz="2793">
              <a:solidFill>
                <a:srgbClr val="003060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603048" lvl="1" indent="-301524" algn="just">
              <a:lnSpc>
                <a:spcPts val="3910"/>
              </a:lnSpc>
              <a:buFont typeface="Arial"/>
              <a:buChar char="•"/>
            </a:pPr>
            <a:r>
              <a:rPr lang="en-US" sz="2793">
                <a:solidFill>
                  <a:srgbClr val="00306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Faster R-CNN → Region Proposal Network (7 FPS).</a:t>
            </a:r>
          </a:p>
          <a:p>
            <a:pPr algn="just">
              <a:lnSpc>
                <a:spcPts val="3910"/>
              </a:lnSpc>
            </a:pPr>
            <a:endParaRPr lang="en-US" sz="2793">
              <a:solidFill>
                <a:srgbClr val="003060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603048" lvl="1" indent="-301524" algn="just">
              <a:lnSpc>
                <a:spcPts val="3910"/>
              </a:lnSpc>
              <a:buFont typeface="Arial"/>
              <a:buChar char="•"/>
            </a:pPr>
            <a:r>
              <a:rPr lang="en-US" sz="2793">
                <a:solidFill>
                  <a:srgbClr val="00306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These methods rely on multi-stage pipelines and local reasoning.</a:t>
            </a:r>
          </a:p>
          <a:p>
            <a:pPr algn="just">
              <a:lnSpc>
                <a:spcPts val="3910"/>
              </a:lnSpc>
            </a:pPr>
            <a:endParaRPr lang="en-US" sz="2793">
              <a:solidFill>
                <a:srgbClr val="003060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12017690" y="-3292162"/>
            <a:ext cx="6784189" cy="8902162"/>
          </a:xfrm>
          <a:custGeom>
            <a:avLst/>
            <a:gdLst/>
            <a:ahLst/>
            <a:cxnLst/>
            <a:rect l="l" t="t" r="r" b="b"/>
            <a:pathLst>
              <a:path w="6784189" h="8902162">
                <a:moveTo>
                  <a:pt x="0" y="0"/>
                </a:moveTo>
                <a:lnTo>
                  <a:pt x="6784190" y="0"/>
                </a:lnTo>
                <a:lnTo>
                  <a:pt x="6784190" y="8902162"/>
                </a:lnTo>
                <a:lnTo>
                  <a:pt x="0" y="89021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16935114" y="6210528"/>
            <a:ext cx="1075032" cy="3047772"/>
          </a:xfrm>
          <a:custGeom>
            <a:avLst/>
            <a:gdLst/>
            <a:ahLst/>
            <a:cxnLst/>
            <a:rect l="l" t="t" r="r" b="b"/>
            <a:pathLst>
              <a:path w="1075032" h="3047772">
                <a:moveTo>
                  <a:pt x="0" y="0"/>
                </a:moveTo>
                <a:lnTo>
                  <a:pt x="1075032" y="0"/>
                </a:lnTo>
                <a:lnTo>
                  <a:pt x="1075032" y="3047772"/>
                </a:lnTo>
                <a:lnTo>
                  <a:pt x="0" y="30477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4" name="Object 4"/>
          <p:cNvGraphicFramePr/>
          <p:nvPr/>
        </p:nvGraphicFramePr>
        <p:xfrm>
          <a:off x="1028700" y="2661957"/>
          <a:ext cx="7543800" cy="377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9042400" imgH="5270500" progId="Excel.Sheet.12">
                  <p:embed/>
                </p:oleObj>
              </mc:Choice>
              <mc:Fallback>
                <p:oleObj name="Worksheet" r:id="rId6" imgW="9042400" imgH="52705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28700" y="2661957"/>
                        <a:ext cx="7543800" cy="3771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5"/>
          <p:cNvSpPr txBox="1"/>
          <p:nvPr/>
        </p:nvSpPr>
        <p:spPr>
          <a:xfrm>
            <a:off x="1028700" y="1414434"/>
            <a:ext cx="11846580" cy="62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sz="5000" b="1">
                <a:solidFill>
                  <a:srgbClr val="055C9D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YOLO VS PREVIOUS METHODS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8046587"/>
            <a:ext cx="10310349" cy="387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5"/>
              </a:lnSpc>
              <a:spcBef>
                <a:spcPct val="0"/>
              </a:spcBef>
            </a:pPr>
            <a:r>
              <a:rPr lang="en-US" sz="2354" b="1">
                <a:solidFill>
                  <a:srgbClr val="055C9D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YOLO reframes detection as a single regression problem from image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42072" y="8585057"/>
            <a:ext cx="8124477" cy="387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5"/>
              </a:lnSpc>
              <a:spcBef>
                <a:spcPct val="0"/>
              </a:spcBef>
            </a:pPr>
            <a:r>
              <a:rPr lang="en-US" sz="2354">
                <a:solidFill>
                  <a:srgbClr val="055C9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pixels → bounding boxes + class probabilities.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11998640" y="-3292162"/>
            <a:ext cx="6784189" cy="8902162"/>
          </a:xfrm>
          <a:custGeom>
            <a:avLst/>
            <a:gdLst/>
            <a:ahLst/>
            <a:cxnLst/>
            <a:rect l="l" t="t" r="r" b="b"/>
            <a:pathLst>
              <a:path w="6784189" h="8902162">
                <a:moveTo>
                  <a:pt x="0" y="0"/>
                </a:moveTo>
                <a:lnTo>
                  <a:pt x="6784190" y="0"/>
                </a:lnTo>
                <a:lnTo>
                  <a:pt x="6784190" y="8902162"/>
                </a:lnTo>
                <a:lnTo>
                  <a:pt x="0" y="89021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16935114" y="6210528"/>
            <a:ext cx="1075032" cy="3047772"/>
          </a:xfrm>
          <a:custGeom>
            <a:avLst/>
            <a:gdLst/>
            <a:ahLst/>
            <a:cxnLst/>
            <a:rect l="l" t="t" r="r" b="b"/>
            <a:pathLst>
              <a:path w="1075032" h="3047772">
                <a:moveTo>
                  <a:pt x="0" y="0"/>
                </a:moveTo>
                <a:lnTo>
                  <a:pt x="1075032" y="0"/>
                </a:lnTo>
                <a:lnTo>
                  <a:pt x="1075032" y="3047772"/>
                </a:lnTo>
                <a:lnTo>
                  <a:pt x="0" y="30477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741810" y="5354678"/>
            <a:ext cx="9559798" cy="4194361"/>
          </a:xfrm>
          <a:custGeom>
            <a:avLst/>
            <a:gdLst/>
            <a:ahLst/>
            <a:cxnLst/>
            <a:rect l="l" t="t" r="r" b="b"/>
            <a:pathLst>
              <a:path w="9559798" h="4194361">
                <a:moveTo>
                  <a:pt x="0" y="0"/>
                </a:moveTo>
                <a:lnTo>
                  <a:pt x="9559797" y="0"/>
                </a:lnTo>
                <a:lnTo>
                  <a:pt x="9559797" y="4194361"/>
                </a:lnTo>
                <a:lnTo>
                  <a:pt x="0" y="41943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1404256"/>
            <a:ext cx="11846580" cy="62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sz="5000" b="1">
                <a:solidFill>
                  <a:srgbClr val="055C9D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YOLO MODEL OVERVIEW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481340"/>
            <a:ext cx="10157487" cy="2990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3300"/>
              </a:lnSpc>
              <a:buFont typeface="Arial"/>
              <a:buChar char="•"/>
            </a:pPr>
            <a:r>
              <a:rPr lang="en-US" sz="3000">
                <a:solidFill>
                  <a:srgbClr val="055C9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Input image divided into S × S grid (S=7).</a:t>
            </a:r>
          </a:p>
          <a:p>
            <a:pPr algn="l">
              <a:lnSpc>
                <a:spcPts val="3300"/>
              </a:lnSpc>
            </a:pPr>
            <a:endParaRPr lang="en-US" sz="3000">
              <a:solidFill>
                <a:srgbClr val="055C9D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647700" lvl="1" indent="-323850" algn="l">
              <a:lnSpc>
                <a:spcPts val="3300"/>
              </a:lnSpc>
              <a:buFont typeface="Arial"/>
              <a:buChar char="•"/>
            </a:pPr>
            <a:r>
              <a:rPr lang="en-US" sz="3000">
                <a:solidFill>
                  <a:srgbClr val="055C9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Each cell predicts:</a:t>
            </a:r>
          </a:p>
          <a:p>
            <a:pPr marL="1016578" lvl="2" indent="-338859" algn="l">
              <a:lnSpc>
                <a:spcPts val="2589"/>
              </a:lnSpc>
              <a:buFont typeface="Arial"/>
              <a:buChar char="⚬"/>
            </a:pPr>
            <a:r>
              <a:rPr lang="en-US" sz="2354">
                <a:solidFill>
                  <a:srgbClr val="055C9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B bounding boxes (B=2)</a:t>
            </a:r>
          </a:p>
          <a:p>
            <a:pPr marL="1016578" lvl="2" indent="-338859" algn="l">
              <a:lnSpc>
                <a:spcPts val="2589"/>
              </a:lnSpc>
              <a:buFont typeface="Arial"/>
              <a:buChar char="⚬"/>
            </a:pPr>
            <a:r>
              <a:rPr lang="en-US" sz="2354">
                <a:solidFill>
                  <a:srgbClr val="055C9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Confidence scores</a:t>
            </a:r>
          </a:p>
          <a:p>
            <a:pPr marL="1016578" lvl="2" indent="-338859" algn="l">
              <a:lnSpc>
                <a:spcPts val="2589"/>
              </a:lnSpc>
              <a:buFont typeface="Arial"/>
              <a:buChar char="⚬"/>
            </a:pPr>
            <a:r>
              <a:rPr lang="en-US" sz="2354">
                <a:solidFill>
                  <a:srgbClr val="055C9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C class probabilities (C=20 for PASCAL VOC)</a:t>
            </a:r>
          </a:p>
          <a:p>
            <a:pPr algn="l">
              <a:lnSpc>
                <a:spcPts val="2589"/>
              </a:lnSpc>
            </a:pPr>
            <a:endParaRPr lang="en-US" sz="2354">
              <a:solidFill>
                <a:srgbClr val="055C9D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647700" lvl="1" indent="-323850" algn="l">
              <a:lnSpc>
                <a:spcPts val="3300"/>
              </a:lnSpc>
              <a:buFont typeface="Arial"/>
              <a:buChar char="•"/>
            </a:pPr>
            <a:r>
              <a:rPr lang="en-US" sz="3000">
                <a:solidFill>
                  <a:srgbClr val="055C9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Output: 7 × 7 × 30 tensor → class &amp; location predictions.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740986" y="9520464"/>
            <a:ext cx="2183606" cy="387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5"/>
              </a:lnSpc>
              <a:spcBef>
                <a:spcPct val="0"/>
              </a:spcBef>
            </a:pPr>
            <a:r>
              <a:rPr lang="en-US" sz="2354">
                <a:solidFill>
                  <a:srgbClr val="055C9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The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5374881" cy="10315575"/>
            <a:chOff x="0" y="0"/>
            <a:chExt cx="7166509" cy="13754100"/>
          </a:xfrm>
        </p:grpSpPr>
        <p:sp>
          <p:nvSpPr>
            <p:cNvPr id="3" name="Freeform 3"/>
            <p:cNvSpPr/>
            <p:nvPr/>
          </p:nvSpPr>
          <p:spPr>
            <a:xfrm flipH="1">
              <a:off x="0" y="4350261"/>
              <a:ext cx="7166509" cy="9403839"/>
            </a:xfrm>
            <a:custGeom>
              <a:avLst/>
              <a:gdLst/>
              <a:ahLst/>
              <a:cxnLst/>
              <a:rect l="l" t="t" r="r" b="b"/>
              <a:pathLst>
                <a:path w="7166509" h="9403839">
                  <a:moveTo>
                    <a:pt x="7166509" y="0"/>
                  </a:moveTo>
                  <a:lnTo>
                    <a:pt x="0" y="0"/>
                  </a:lnTo>
                  <a:lnTo>
                    <a:pt x="0" y="9403839"/>
                  </a:lnTo>
                  <a:lnTo>
                    <a:pt x="7166509" y="9403839"/>
                  </a:lnTo>
                  <a:lnTo>
                    <a:pt x="716650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4" name="Freeform 4"/>
            <p:cNvSpPr/>
            <p:nvPr/>
          </p:nvSpPr>
          <p:spPr>
            <a:xfrm flipV="1">
              <a:off x="0" y="0"/>
              <a:ext cx="7166509" cy="9403839"/>
            </a:xfrm>
            <a:custGeom>
              <a:avLst/>
              <a:gdLst/>
              <a:ahLst/>
              <a:cxnLst/>
              <a:rect l="l" t="t" r="r" b="b"/>
              <a:pathLst>
                <a:path w="7166509" h="9403839">
                  <a:moveTo>
                    <a:pt x="0" y="9403839"/>
                  </a:moveTo>
                  <a:lnTo>
                    <a:pt x="7166509" y="9403839"/>
                  </a:lnTo>
                  <a:lnTo>
                    <a:pt x="7166509" y="0"/>
                  </a:lnTo>
                  <a:lnTo>
                    <a:pt x="0" y="0"/>
                  </a:lnTo>
                  <a:lnTo>
                    <a:pt x="0" y="9403839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5" name="Freeform 5"/>
          <p:cNvSpPr/>
          <p:nvPr/>
        </p:nvSpPr>
        <p:spPr>
          <a:xfrm>
            <a:off x="16721784" y="6210528"/>
            <a:ext cx="1075032" cy="3047772"/>
          </a:xfrm>
          <a:custGeom>
            <a:avLst/>
            <a:gdLst/>
            <a:ahLst/>
            <a:cxnLst/>
            <a:rect l="l" t="t" r="r" b="b"/>
            <a:pathLst>
              <a:path w="1075032" h="3047772">
                <a:moveTo>
                  <a:pt x="0" y="0"/>
                </a:moveTo>
                <a:lnTo>
                  <a:pt x="1075032" y="0"/>
                </a:lnTo>
                <a:lnTo>
                  <a:pt x="1075032" y="3047772"/>
                </a:lnTo>
                <a:lnTo>
                  <a:pt x="0" y="30477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344102" y="1162050"/>
            <a:ext cx="11092794" cy="62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sz="5000" b="1">
                <a:solidFill>
                  <a:srgbClr val="055C9D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NETWORK ARCHITECTURE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344102" y="2295525"/>
            <a:ext cx="11092794" cy="6924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5C9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24 convolutional + 2 fully connected layers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55C9D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5C9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Inspired by GoogLeNet but simplified (uses 1×1 and 3×3 conv layers).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55C9D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5C9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Trained on ImageNet, fine-tuned for detection (448×448 images)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55C9D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5C9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Loss Function: Sum-squared error with weighting for</a:t>
            </a:r>
          </a:p>
          <a:p>
            <a:pPr marL="1295400" lvl="2" indent="-431800" algn="l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55C9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Localization (λcoord = 5)</a:t>
            </a:r>
          </a:p>
          <a:p>
            <a:pPr marL="1295400" lvl="2" indent="-431800" algn="l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55C9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No-object confidence (λnoobj = 0.5)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55C9D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5C9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Activation: Leaky ReL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H="1">
            <a:off x="10912385" y="-1212953"/>
            <a:ext cx="7228897" cy="9485704"/>
          </a:xfrm>
          <a:custGeom>
            <a:avLst/>
            <a:gdLst/>
            <a:ahLst/>
            <a:cxnLst/>
            <a:rect l="l" t="t" r="r" b="b"/>
            <a:pathLst>
              <a:path w="7228897" h="9485704">
                <a:moveTo>
                  <a:pt x="7228897" y="0"/>
                </a:moveTo>
                <a:lnTo>
                  <a:pt x="0" y="0"/>
                </a:lnTo>
                <a:lnTo>
                  <a:pt x="0" y="9485704"/>
                </a:lnTo>
                <a:lnTo>
                  <a:pt x="7228897" y="9485704"/>
                </a:lnTo>
                <a:lnTo>
                  <a:pt x="722889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2330509" y="2387686"/>
            <a:ext cx="5246370" cy="5246370"/>
            <a:chOff x="0" y="0"/>
            <a:chExt cx="14840029" cy="14840029"/>
          </a:xfrm>
        </p:grpSpPr>
        <p:sp>
          <p:nvSpPr>
            <p:cNvPr id="4" name="Freeform 4"/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0E86D4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-16369" r="-16369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 rot="-5400000" flipH="1">
            <a:off x="15197898" y="7559540"/>
            <a:ext cx="1075032" cy="3047772"/>
          </a:xfrm>
          <a:custGeom>
            <a:avLst/>
            <a:gdLst/>
            <a:ahLst/>
            <a:cxnLst/>
            <a:rect l="l" t="t" r="r" b="b"/>
            <a:pathLst>
              <a:path w="1075032" h="3047772">
                <a:moveTo>
                  <a:pt x="1075032" y="0"/>
                </a:moveTo>
                <a:lnTo>
                  <a:pt x="0" y="0"/>
                </a:lnTo>
                <a:lnTo>
                  <a:pt x="0" y="3047771"/>
                </a:lnTo>
                <a:lnTo>
                  <a:pt x="1075032" y="3047771"/>
                </a:lnTo>
                <a:lnTo>
                  <a:pt x="107503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1314450"/>
            <a:ext cx="8755282" cy="62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sz="5000" b="1">
                <a:solidFill>
                  <a:srgbClr val="055C9D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TRAINING &amp; INFERENCE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3094178"/>
            <a:ext cx="11092794" cy="479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55C9D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Training:</a:t>
            </a:r>
          </a:p>
          <a:p>
            <a:pPr marL="1295400" lvl="2" indent="-431800" algn="l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55C9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135 epochs on PASCAL VOC 2007+2012</a:t>
            </a:r>
          </a:p>
          <a:p>
            <a:pPr marL="1295400" lvl="2" indent="-431800" algn="l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55C9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Data augmentation (scaling, translation, color shift)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55C9D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55C9D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Inference:</a:t>
            </a:r>
          </a:p>
          <a:p>
            <a:pPr marL="1295400" lvl="2" indent="-431800" algn="l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55C9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One forward pass → 98 boxes/image</a:t>
            </a:r>
          </a:p>
          <a:p>
            <a:pPr marL="1295400" lvl="2" indent="-431800" algn="l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55C9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Non-Max Suppression removes duplicates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55C9D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5C9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Fast YOLO: Smaller network (9 conv layers), 155 FPS.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12017690" y="-3292162"/>
            <a:ext cx="6784189" cy="8902162"/>
          </a:xfrm>
          <a:custGeom>
            <a:avLst/>
            <a:gdLst/>
            <a:ahLst/>
            <a:cxnLst/>
            <a:rect l="l" t="t" r="r" b="b"/>
            <a:pathLst>
              <a:path w="6784189" h="8902162">
                <a:moveTo>
                  <a:pt x="0" y="0"/>
                </a:moveTo>
                <a:lnTo>
                  <a:pt x="6784190" y="0"/>
                </a:lnTo>
                <a:lnTo>
                  <a:pt x="6784190" y="8902162"/>
                </a:lnTo>
                <a:lnTo>
                  <a:pt x="0" y="89021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16935114" y="6210528"/>
            <a:ext cx="1075032" cy="3047772"/>
          </a:xfrm>
          <a:custGeom>
            <a:avLst/>
            <a:gdLst/>
            <a:ahLst/>
            <a:cxnLst/>
            <a:rect l="l" t="t" r="r" b="b"/>
            <a:pathLst>
              <a:path w="1075032" h="3047772">
                <a:moveTo>
                  <a:pt x="0" y="0"/>
                </a:moveTo>
                <a:lnTo>
                  <a:pt x="1075032" y="0"/>
                </a:lnTo>
                <a:lnTo>
                  <a:pt x="1075032" y="3047772"/>
                </a:lnTo>
                <a:lnTo>
                  <a:pt x="0" y="30477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1338234"/>
            <a:ext cx="11846580" cy="62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sz="5000" b="1">
                <a:solidFill>
                  <a:srgbClr val="055C9D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REAL-TIME DETECTION RESULTS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8046587"/>
            <a:ext cx="10310349" cy="387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5"/>
              </a:lnSpc>
              <a:spcBef>
                <a:spcPct val="0"/>
              </a:spcBef>
            </a:pPr>
            <a:r>
              <a:rPr lang="en-US" sz="2354" b="1">
                <a:solidFill>
                  <a:srgbClr val="055C9D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YOLO achieves real-time speed with competitive accuracy.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3145CDF-5B97-9B0B-EDFC-D4718E24A1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5101187"/>
              </p:ext>
            </p:extLst>
          </p:nvPr>
        </p:nvGraphicFramePr>
        <p:xfrm>
          <a:off x="1028700" y="2557026"/>
          <a:ext cx="12192000" cy="40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596825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72742813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429402273"/>
                    </a:ext>
                  </a:extLst>
                </a:gridCol>
              </a:tblGrid>
              <a:tr h="812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Detector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mAP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FPS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5738763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100Hz DPM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16.0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2126563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Fast YOLO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52.7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155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1893578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YOLO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63.4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45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7722720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Faster R-CNN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73.2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22382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12017690" y="-3292162"/>
            <a:ext cx="6784189" cy="8902162"/>
          </a:xfrm>
          <a:custGeom>
            <a:avLst/>
            <a:gdLst/>
            <a:ahLst/>
            <a:cxnLst/>
            <a:rect l="l" t="t" r="r" b="b"/>
            <a:pathLst>
              <a:path w="6784189" h="8902162">
                <a:moveTo>
                  <a:pt x="0" y="0"/>
                </a:moveTo>
                <a:lnTo>
                  <a:pt x="6784190" y="0"/>
                </a:lnTo>
                <a:lnTo>
                  <a:pt x="6784190" y="8902162"/>
                </a:lnTo>
                <a:lnTo>
                  <a:pt x="0" y="89021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16935114" y="6210528"/>
            <a:ext cx="1075032" cy="3047772"/>
          </a:xfrm>
          <a:custGeom>
            <a:avLst/>
            <a:gdLst/>
            <a:ahLst/>
            <a:cxnLst/>
            <a:rect l="l" t="t" r="r" b="b"/>
            <a:pathLst>
              <a:path w="1075032" h="3047772">
                <a:moveTo>
                  <a:pt x="0" y="0"/>
                </a:moveTo>
                <a:lnTo>
                  <a:pt x="1075032" y="0"/>
                </a:lnTo>
                <a:lnTo>
                  <a:pt x="1075032" y="3047772"/>
                </a:lnTo>
                <a:lnTo>
                  <a:pt x="0" y="30477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932677" y="4748290"/>
            <a:ext cx="8422646" cy="4442946"/>
          </a:xfrm>
          <a:custGeom>
            <a:avLst/>
            <a:gdLst/>
            <a:ahLst/>
            <a:cxnLst/>
            <a:rect l="l" t="t" r="r" b="b"/>
            <a:pathLst>
              <a:path w="8422646" h="4442946">
                <a:moveTo>
                  <a:pt x="0" y="0"/>
                </a:moveTo>
                <a:lnTo>
                  <a:pt x="8422646" y="0"/>
                </a:lnTo>
                <a:lnTo>
                  <a:pt x="8422646" y="4442945"/>
                </a:lnTo>
                <a:lnTo>
                  <a:pt x="0" y="44429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1263694"/>
            <a:ext cx="11846580" cy="62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sz="5000" b="1">
                <a:solidFill>
                  <a:srgbClr val="055C9D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ERROR ANALYSIS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376565"/>
            <a:ext cx="11910153" cy="2190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3300"/>
              </a:lnSpc>
              <a:buFont typeface="Arial"/>
              <a:buChar char="•"/>
            </a:pPr>
            <a:r>
              <a:rPr lang="en-US" sz="3000">
                <a:solidFill>
                  <a:srgbClr val="055C9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YOLO makes fewer background (false positive) errors.</a:t>
            </a:r>
          </a:p>
          <a:p>
            <a:pPr algn="l">
              <a:lnSpc>
                <a:spcPts val="3300"/>
              </a:lnSpc>
            </a:pPr>
            <a:endParaRPr lang="en-US" sz="3000">
              <a:solidFill>
                <a:srgbClr val="055C9D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647700" lvl="1" indent="-323850" algn="l">
              <a:lnSpc>
                <a:spcPts val="3300"/>
              </a:lnSpc>
              <a:buFont typeface="Arial"/>
              <a:buChar char="•"/>
            </a:pPr>
            <a:r>
              <a:rPr lang="en-US" sz="3000">
                <a:solidFill>
                  <a:srgbClr val="055C9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Main weakness: Localization errors (inaccurate bounding boxes).</a:t>
            </a:r>
          </a:p>
          <a:p>
            <a:pPr algn="l">
              <a:lnSpc>
                <a:spcPts val="3300"/>
              </a:lnSpc>
            </a:pPr>
            <a:endParaRPr lang="en-US" sz="3000">
              <a:solidFill>
                <a:srgbClr val="055C9D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647700" lvl="1" indent="-323850" algn="l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055C9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Combining YOLO + Fast R-CNN improves mAP from 71.8 → 75.0%.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162866" y="9220200"/>
            <a:ext cx="4493948" cy="387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5"/>
              </a:lnSpc>
              <a:spcBef>
                <a:spcPct val="0"/>
              </a:spcBef>
            </a:pPr>
            <a:r>
              <a:rPr lang="en-US" sz="2354">
                <a:solidFill>
                  <a:srgbClr val="055C9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ErrorAnalysis: FastR-CNNvs. YOLO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12017690" y="-3292162"/>
            <a:ext cx="6784189" cy="8902162"/>
          </a:xfrm>
          <a:custGeom>
            <a:avLst/>
            <a:gdLst/>
            <a:ahLst/>
            <a:cxnLst/>
            <a:rect l="l" t="t" r="r" b="b"/>
            <a:pathLst>
              <a:path w="6784189" h="8902162">
                <a:moveTo>
                  <a:pt x="0" y="0"/>
                </a:moveTo>
                <a:lnTo>
                  <a:pt x="6784190" y="0"/>
                </a:lnTo>
                <a:lnTo>
                  <a:pt x="6784190" y="8902162"/>
                </a:lnTo>
                <a:lnTo>
                  <a:pt x="0" y="89021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16935114" y="6210528"/>
            <a:ext cx="1075032" cy="3047772"/>
          </a:xfrm>
          <a:custGeom>
            <a:avLst/>
            <a:gdLst/>
            <a:ahLst/>
            <a:cxnLst/>
            <a:rect l="l" t="t" r="r" b="b"/>
            <a:pathLst>
              <a:path w="1075032" h="3047772">
                <a:moveTo>
                  <a:pt x="0" y="0"/>
                </a:moveTo>
                <a:lnTo>
                  <a:pt x="1075032" y="0"/>
                </a:lnTo>
                <a:lnTo>
                  <a:pt x="1075032" y="3047772"/>
                </a:lnTo>
                <a:lnTo>
                  <a:pt x="0" y="30477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673865" y="2521413"/>
            <a:ext cx="7699391" cy="6024773"/>
          </a:xfrm>
          <a:custGeom>
            <a:avLst/>
            <a:gdLst/>
            <a:ahLst/>
            <a:cxnLst/>
            <a:rect l="l" t="t" r="r" b="b"/>
            <a:pathLst>
              <a:path w="7699391" h="6024773">
                <a:moveTo>
                  <a:pt x="0" y="0"/>
                </a:moveTo>
                <a:lnTo>
                  <a:pt x="7699390" y="0"/>
                </a:lnTo>
                <a:lnTo>
                  <a:pt x="7699390" y="6024773"/>
                </a:lnTo>
                <a:lnTo>
                  <a:pt x="0" y="60247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1337581"/>
            <a:ext cx="13162529" cy="62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sz="5000" b="1">
                <a:solidFill>
                  <a:srgbClr val="055C9D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GENERALIZATION TO NEW DOMAINS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987224"/>
            <a:ext cx="6374841" cy="3371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3300"/>
              </a:lnSpc>
              <a:buFont typeface="Arial"/>
              <a:buChar char="•"/>
            </a:pPr>
            <a:r>
              <a:rPr lang="en-US" sz="3000">
                <a:solidFill>
                  <a:srgbClr val="055C9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Tested on artwork datasets (Picasso, People-Art).</a:t>
            </a:r>
          </a:p>
          <a:p>
            <a:pPr algn="l">
              <a:lnSpc>
                <a:spcPts val="3300"/>
              </a:lnSpc>
            </a:pPr>
            <a:endParaRPr lang="en-US" sz="3000">
              <a:solidFill>
                <a:srgbClr val="055C9D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647700" lvl="1" indent="-323850" algn="l">
              <a:lnSpc>
                <a:spcPts val="3300"/>
              </a:lnSpc>
              <a:buFont typeface="Arial"/>
              <a:buChar char="•"/>
            </a:pPr>
            <a:r>
              <a:rPr lang="en-US" sz="3000">
                <a:solidFill>
                  <a:srgbClr val="055C9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YOLO performs better than R-CNN and DPM.</a:t>
            </a:r>
          </a:p>
          <a:p>
            <a:pPr algn="l">
              <a:lnSpc>
                <a:spcPts val="3300"/>
              </a:lnSpc>
            </a:pPr>
            <a:endParaRPr lang="en-US" sz="3000">
              <a:solidFill>
                <a:srgbClr val="055C9D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647700" lvl="1" indent="-323850" algn="l">
              <a:lnSpc>
                <a:spcPts val="3300"/>
              </a:lnSpc>
              <a:buFont typeface="Arial"/>
              <a:buChar char="•"/>
            </a:pPr>
            <a:r>
              <a:rPr lang="en-US" sz="3000">
                <a:solidFill>
                  <a:srgbClr val="055C9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Shows strong generalization ability across visual styles.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759591" y="8653095"/>
            <a:ext cx="4369329" cy="387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5"/>
              </a:lnSpc>
              <a:spcBef>
                <a:spcPct val="0"/>
              </a:spcBef>
            </a:pPr>
            <a:r>
              <a:rPr lang="en-US" sz="2354">
                <a:solidFill>
                  <a:srgbClr val="055C9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Generalization results on Picasso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3170434" y="4135763"/>
            <a:ext cx="5180802" cy="6798210"/>
          </a:xfrm>
          <a:custGeom>
            <a:avLst/>
            <a:gdLst/>
            <a:ahLst/>
            <a:cxnLst/>
            <a:rect l="l" t="t" r="r" b="b"/>
            <a:pathLst>
              <a:path w="5180802" h="6798210">
                <a:moveTo>
                  <a:pt x="5180802" y="0"/>
                </a:moveTo>
                <a:lnTo>
                  <a:pt x="0" y="0"/>
                </a:lnTo>
                <a:lnTo>
                  <a:pt x="0" y="6798210"/>
                </a:lnTo>
                <a:lnTo>
                  <a:pt x="5180802" y="6798210"/>
                </a:lnTo>
                <a:lnTo>
                  <a:pt x="518080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TextBox 3"/>
          <p:cNvSpPr txBox="1"/>
          <p:nvPr/>
        </p:nvSpPr>
        <p:spPr>
          <a:xfrm>
            <a:off x="1028700" y="1162050"/>
            <a:ext cx="13251342" cy="62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sz="5000" b="1">
                <a:solidFill>
                  <a:srgbClr val="055C9D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CONCLUSION &amp; FUTURE WORK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149694"/>
            <a:ext cx="13251342" cy="212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0306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Achievements: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306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Introduced unified detection framework – single CNN, real-time speed.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306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Improved generalization beyond natural images.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3060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4314825"/>
            <a:ext cx="13251342" cy="159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0306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Limitations: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306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Struggles with small and overlapping objects.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3060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6172793"/>
            <a:ext cx="13251342" cy="2657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0306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Future Work: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306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Improve localization accuracy.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306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Refine model for small object detection.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306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Extend to multi-scale detection (→ YOLOv2, v3, v4, YOLOv5+).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3060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2941694" y="3262696"/>
            <a:ext cx="5374881" cy="7052879"/>
          </a:xfrm>
          <a:custGeom>
            <a:avLst/>
            <a:gdLst/>
            <a:ahLst/>
            <a:cxnLst/>
            <a:rect l="l" t="t" r="r" b="b"/>
            <a:pathLst>
              <a:path w="5374881" h="7052879">
                <a:moveTo>
                  <a:pt x="5374881" y="0"/>
                </a:moveTo>
                <a:lnTo>
                  <a:pt x="0" y="0"/>
                </a:lnTo>
                <a:lnTo>
                  <a:pt x="0" y="7052879"/>
                </a:lnTo>
                <a:lnTo>
                  <a:pt x="5374881" y="7052879"/>
                </a:lnTo>
                <a:lnTo>
                  <a:pt x="537488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flipV="1">
            <a:off x="0" y="0"/>
            <a:ext cx="5374881" cy="7052879"/>
          </a:xfrm>
          <a:custGeom>
            <a:avLst/>
            <a:gdLst/>
            <a:ahLst/>
            <a:cxnLst/>
            <a:rect l="l" t="t" r="r" b="b"/>
            <a:pathLst>
              <a:path w="5374881" h="7052879">
                <a:moveTo>
                  <a:pt x="0" y="7052879"/>
                </a:moveTo>
                <a:lnTo>
                  <a:pt x="5374881" y="7052879"/>
                </a:lnTo>
                <a:lnTo>
                  <a:pt x="5374881" y="0"/>
                </a:lnTo>
                <a:lnTo>
                  <a:pt x="0" y="0"/>
                </a:lnTo>
                <a:lnTo>
                  <a:pt x="0" y="705287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TextBox 4"/>
          <p:cNvSpPr txBox="1"/>
          <p:nvPr/>
        </p:nvSpPr>
        <p:spPr>
          <a:xfrm>
            <a:off x="8088473" y="7014779"/>
            <a:ext cx="2644454" cy="371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1"/>
              </a:lnSpc>
            </a:pPr>
            <a:r>
              <a:rPr lang="en-US" sz="2229" b="1">
                <a:solidFill>
                  <a:srgbClr val="055C9D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Presented By 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902096" y="7501073"/>
            <a:ext cx="5455359" cy="1406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55C9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Dissanayake D.K.R.C.K  - EG/2020/3910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55C9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Samaraweera R.P.R.T.N - EG/2020/4180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55C9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Weerasinghe L.W.S.T.    - EG/2020/4271 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55C9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Wickramage W.D.M.      - EG/2020/4278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346306" y="2911629"/>
            <a:ext cx="7595387" cy="2175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10"/>
              </a:lnSpc>
            </a:pPr>
            <a:r>
              <a:rPr lang="en-US" sz="12650" b="1">
                <a:solidFill>
                  <a:srgbClr val="055C9D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THANK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374881" y="4380253"/>
            <a:ext cx="7595387" cy="2408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1"/>
              </a:lnSpc>
            </a:pPr>
            <a:r>
              <a:rPr lang="en-US" sz="14001" b="1">
                <a:solidFill>
                  <a:srgbClr val="00306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586</Words>
  <Application>Microsoft Office PowerPoint</Application>
  <PresentationFormat>Custom</PresentationFormat>
  <Paragraphs>110</Paragraphs>
  <Slides>12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Atkinson Hyperlegible Bold</vt:lpstr>
      <vt:lpstr>Atkinson Hyperlegible</vt:lpstr>
      <vt:lpstr>Neue Machina Ultra-Bold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Geometric Business Proposal Presentation</dc:title>
  <cp:lastModifiedBy>Chathura Dissanayake</cp:lastModifiedBy>
  <cp:revision>2</cp:revision>
  <dcterms:created xsi:type="dcterms:W3CDTF">2006-08-16T00:00:00Z</dcterms:created>
  <dcterms:modified xsi:type="dcterms:W3CDTF">2025-10-21T19:46:00Z</dcterms:modified>
  <dc:identifier>DAG1qLvwa5w</dc:identifier>
</cp:coreProperties>
</file>